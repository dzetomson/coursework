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0" r:id="rId17"/>
    <p:sldId id="279" r:id="rId18"/>
    <p:sldId id="271" r:id="rId19"/>
    <p:sldId id="273" r:id="rId20"/>
    <p:sldId id="272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8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3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F0FC6-D54B-43DE-AFEC-1A5D1AFFC0A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1824B-9FB3-4666-A544-E6F760165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68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F1824B-9FB3-4666-A544-E6F760165A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3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54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179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86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93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88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92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68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20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29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00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07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41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571722" y="2469368"/>
            <a:ext cx="9144000" cy="14426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Курсовой проект</a:t>
            </a:r>
            <a:br>
              <a:rPr lang="ru-RU" sz="3600" dirty="0"/>
            </a:br>
            <a:r>
              <a:rPr lang="ru-RU" sz="3600" dirty="0"/>
              <a:t>на тему «Проектирование ИС «Служба доставки»»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6996392" y="4274194"/>
            <a:ext cx="4850296" cy="1651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Выполнил: Затворная М.В.,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студент 1 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группы ИСиП 25-11-1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Проверила: Гончарова Т.В., должность: преподаватель проф. дисциплин</a:t>
            </a:r>
          </a:p>
          <a:p>
            <a:endParaRPr lang="ru-RU" sz="1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3143" y="303793"/>
            <a:ext cx="109873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ГОСУДАРСТВЕННОЕ АВТОНОМНОЕ ПРОФЕССИОНАЛЬНОЕ ОБРАЗОВАТЕЛЬНОЕ </a:t>
            </a:r>
          </a:p>
          <a:p>
            <a:pPr algn="ctr"/>
            <a:r>
              <a:rPr lang="ru-RU" sz="2000" dirty="0"/>
              <a:t>УЧРЕЖДЕНИЕ  ТЮМЕНСКОЙ ОБЛАСТИ </a:t>
            </a:r>
          </a:p>
          <a:p>
            <a:pPr algn="ctr"/>
            <a:r>
              <a:rPr lang="ru-RU" sz="2000" dirty="0"/>
              <a:t>«ТЮМЕНСКИЙ ТЕХНИКУМ СТРОИТЕЛЬНОЙ ИНДУСТРИИ И ГОРОДСКОГО ХОЗЯЙСТВА»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096801" y="6288156"/>
            <a:ext cx="20938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+mj-lt"/>
              </a:rPr>
              <a:t>г. Тюмень, 2026 г.</a:t>
            </a:r>
          </a:p>
        </p:txBody>
      </p:sp>
    </p:spTree>
    <p:extLst>
      <p:ext uri="{BB962C8B-B14F-4D97-AF65-F5344CB8AC3E}">
        <p14:creationId xmlns:p14="http://schemas.microsoft.com/office/powerpoint/2010/main" val="141091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5431" y="668600"/>
            <a:ext cx="7729728" cy="785731"/>
          </a:xfrm>
        </p:spPr>
        <p:txBody>
          <a:bodyPr/>
          <a:lstStyle/>
          <a:p>
            <a:r>
              <a:rPr lang="ru-RU" dirty="0"/>
              <a:t>Описание предметной области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9726" y="1706881"/>
            <a:ext cx="7801138" cy="4311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Служба доставки – это компания, осуществляющая оперативную доставку грузов, посылок, документов и товаров по городу и за его пределами с гарантированными сроками доставки.</a:t>
            </a:r>
          </a:p>
          <a:p>
            <a:pPr marL="0" indent="0">
              <a:buNone/>
            </a:pPr>
            <a:r>
              <a:rPr lang="ru-RU" dirty="0"/>
              <a:t>Основные бизнес-процессы:</a:t>
            </a:r>
          </a:p>
          <a:p>
            <a:pPr marL="0" indent="0">
              <a:buNone/>
            </a:pPr>
            <a:r>
              <a:rPr lang="ru-RU" dirty="0"/>
              <a:t>• Прием и оформление заказов на доставку (срочная доставка 3-6 часов, стандартная 1-3 дня, международная доставка)</a:t>
            </a:r>
          </a:p>
          <a:p>
            <a:pPr marL="0" indent="0">
              <a:buNone/>
            </a:pPr>
            <a:r>
              <a:rPr lang="ru-RU" dirty="0"/>
              <a:t>• Планирование маршрутов и распределение заказов между курьерами</a:t>
            </a:r>
          </a:p>
          <a:p>
            <a:pPr marL="0" indent="0">
              <a:buNone/>
            </a:pPr>
            <a:r>
              <a:rPr lang="ru-RU" dirty="0"/>
              <a:t>• Организация доставки (курьерская доставка до двери, пункты выдачи, постаматы)</a:t>
            </a:r>
          </a:p>
          <a:p>
            <a:pPr marL="0" indent="0">
              <a:buNone/>
            </a:pPr>
            <a:r>
              <a:rPr lang="ru-RU" dirty="0"/>
              <a:t>• Отслеживание местоположения посылок в реальном времени</a:t>
            </a:r>
          </a:p>
          <a:p>
            <a:pPr marL="0" indent="0">
              <a:buNone/>
            </a:pPr>
            <a:r>
              <a:rPr lang="ru-RU" dirty="0"/>
              <a:t>• Расчет стоимости доставки и обработка платежей</a:t>
            </a:r>
          </a:p>
          <a:p>
            <a:pPr marL="0" indent="0">
              <a:buNone/>
            </a:pPr>
            <a:r>
              <a:rPr lang="ru-RU" dirty="0"/>
              <a:t>• Консультирование клиентов по тарифам и условиям доставки</a:t>
            </a:r>
          </a:p>
        </p:txBody>
      </p:sp>
    </p:spTree>
    <p:extLst>
      <p:ext uri="{BB962C8B-B14F-4D97-AF65-F5344CB8AC3E}">
        <p14:creationId xmlns:p14="http://schemas.microsoft.com/office/powerpoint/2010/main" val="407688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0013" y="781811"/>
            <a:ext cx="7932637" cy="968611"/>
          </a:xfrm>
        </p:spPr>
        <p:txBody>
          <a:bodyPr/>
          <a:lstStyle/>
          <a:p>
            <a:r>
              <a:rPr lang="ru-RU" dirty="0"/>
              <a:t>Проблематика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29681" y="1841862"/>
            <a:ext cx="7932637" cy="3597292"/>
          </a:xfrm>
        </p:spPr>
        <p:txBody>
          <a:bodyPr>
            <a:noAutofit/>
          </a:bodyPr>
          <a:lstStyle/>
          <a:p>
            <a:r>
              <a:rPr lang="ru-RU" dirty="0"/>
              <a:t>• Ручной ввод данных (ошибки в оформлении заказов на доставку, неверные адреса забора и доставки, опечатки в контактных данных отправителей и получателей)</a:t>
            </a:r>
          </a:p>
          <a:p>
            <a:r>
              <a:rPr lang="ru-RU" dirty="0"/>
              <a:t>• Дублирование операций (многоразовое обновление статусов доставки, ручное назначение курьеров на заказы, повторный ввод одних и тех же адресов)</a:t>
            </a:r>
          </a:p>
          <a:p>
            <a:r>
              <a:rPr lang="ru-RU" dirty="0"/>
              <a:t>• Отсутствие единой базы (сложно отследить местоположение курьеров в реальном времени, низкая прозрачность статусов доставок, трудный поиск истории заказов по клиентам)</a:t>
            </a:r>
          </a:p>
          <a:p>
            <a:r>
              <a:rPr lang="ru-RU" dirty="0"/>
              <a:t>• Нет системы уведомлений (риск пропустить новый заказ, забыть отправить клиенту информацию о назначении курьера, упустить сроки доставки и временные окна)</a:t>
            </a:r>
          </a:p>
          <a:p>
            <a:r>
              <a:rPr lang="ru-RU" dirty="0"/>
              <a:t>• Ручное управление курьерами (сложно отслеживать загрузку исполнителей, оптимизировать маршруты, контролировать соблюдение SLA, отсутствие аналитики по времени и качеству доставок)</a:t>
            </a:r>
          </a:p>
          <a:p>
            <a:pPr marL="0" indent="0">
              <a:buNone/>
            </a:pPr>
            <a:br>
              <a:rPr lang="ru-RU" dirty="0"/>
            </a:br>
            <a:br>
              <a:rPr lang="ru-RU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3597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73451" y="781813"/>
            <a:ext cx="7729728" cy="1188720"/>
          </a:xfrm>
        </p:spPr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06106" y="2225041"/>
            <a:ext cx="4592466" cy="40675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Цель проекта:</a:t>
            </a:r>
          </a:p>
          <a:p>
            <a:pPr marL="0" indent="0">
              <a:buNone/>
            </a:pPr>
            <a:r>
              <a:rPr lang="ru-RU" sz="2000" dirty="0"/>
              <a:t>Проектирование и программная реализация системы экспресс-службы доставки для автоматизации логистических операций, управления курьерским парком, оптимизации маршрутов и интеграции с платежными системами и картографическими сервисами</a:t>
            </a:r>
            <a:endParaRPr lang="ru-RU" sz="2400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4898572" y="2225041"/>
            <a:ext cx="7132320" cy="36808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Задачи:</a:t>
            </a:r>
            <a:endParaRPr lang="ru-RU" sz="2000" dirty="0"/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Задачи: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Провести анализ предметной области логистики и экспресс-доставки и обосновать необходимость автоматизации.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Разработать функциональные требования и смоделировать процессы (прием заявки, маршрутизация, доставка, оплата).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Спроектировать структуру нормализованной реляционной базы данных (заказы, клиенты, курьеры, маршруты, тарифы).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Выбрать оптимальный стек технологий для разработки веб-приложения и мобильного интерфейса курьера.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Разработать эргономичный пользовательский интерфейс (портал для клиентов и панель диспетчера).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Реализовать модули оформления заказов, назначения курьеров, отслеживания статусов и формирования документов.</a:t>
            </a:r>
          </a:p>
        </p:txBody>
      </p:sp>
    </p:spTree>
    <p:extLst>
      <p:ext uri="{BB962C8B-B14F-4D97-AF65-F5344CB8AC3E}">
        <p14:creationId xmlns:p14="http://schemas.microsoft.com/office/powerpoint/2010/main" val="77863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/>
          <p:cNvSpPr>
            <a:spLocks noGrp="1"/>
          </p:cNvSpPr>
          <p:nvPr>
            <p:ph type="body" idx="1"/>
          </p:nvPr>
        </p:nvSpPr>
        <p:spPr>
          <a:xfrm>
            <a:off x="413004" y="2153413"/>
            <a:ext cx="4270248" cy="704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Объект исследования:</a:t>
            </a:r>
          </a:p>
        </p:txBody>
      </p:sp>
      <p:sp>
        <p:nvSpPr>
          <p:cNvPr id="12" name="Объект 11"/>
          <p:cNvSpPr>
            <a:spLocks noGrp="1"/>
          </p:cNvSpPr>
          <p:nvPr>
            <p:ph sz="half" idx="2"/>
          </p:nvPr>
        </p:nvSpPr>
        <p:spPr>
          <a:xfrm>
            <a:off x="760476" y="2857500"/>
            <a:ext cx="4270248" cy="2596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Бизнес-процессы экспресс-службы доставки, связанные с приёмом и обработкой заявок на перевозку, управлением курьерским парком и маршрутами, контролем статусов отправлений, соблюдением временных окон и нормативов доставки (SLA), тарификацией услуг, взаимодействием с клиентами, а также обеспечением сохранности грузов и оперативным реагированием на логистические сбои.</a:t>
            </a:r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6923423" y="2834640"/>
            <a:ext cx="4416770" cy="2596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Информационная система экспресс-службы доставки, методы проектирования реляционной базы данных для учёта заявок, клиентов, исполнителей и транспортных документов с классификацией грузов по габаритам и срочности, алгоритмы автоматизации диспетчеризации, динамической оптимизации маршрутов, контроля соблюдения SLA и автоматического информирования клиентов о перемещении посылок.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3"/>
          </p:nvPr>
        </p:nvSpPr>
        <p:spPr>
          <a:xfrm>
            <a:off x="6996684" y="2153413"/>
            <a:ext cx="4270248" cy="704087"/>
          </a:xfrm>
        </p:spPr>
        <p:txBody>
          <a:bodyPr>
            <a:normAutofit/>
          </a:bodyPr>
          <a:lstStyle/>
          <a:p>
            <a:r>
              <a:rPr lang="ru-RU" sz="2000" dirty="0"/>
              <a:t>Предмет исследования: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 и предмет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344277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389927"/>
            <a:ext cx="7729728" cy="1188720"/>
          </a:xfrm>
        </p:spPr>
        <p:txBody>
          <a:bodyPr>
            <a:normAutofit/>
          </a:bodyPr>
          <a:lstStyle/>
          <a:p>
            <a:r>
              <a:rPr lang="ru-RU" dirty="0"/>
              <a:t>Контекстная </a:t>
            </a:r>
            <a:r>
              <a:rPr lang="en-US" dirty="0"/>
              <a:t> </a:t>
            </a:r>
            <a:r>
              <a:rPr lang="ru-RU" dirty="0"/>
              <a:t>Диаграмма </a:t>
            </a:r>
            <a:r>
              <a:rPr lang="en-US" dirty="0"/>
              <a:t>idef0 </a:t>
            </a:r>
            <a:r>
              <a:rPr lang="ru-RU" dirty="0"/>
              <a:t>«Доставить товар»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CD28DB-29CF-E783-435A-01B12631A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1827593"/>
            <a:ext cx="7552944" cy="44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0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3395" y="381217"/>
            <a:ext cx="8785208" cy="1188720"/>
          </a:xfrm>
        </p:spPr>
        <p:txBody>
          <a:bodyPr>
            <a:normAutofit/>
          </a:bodyPr>
          <a:lstStyle/>
          <a:p>
            <a:r>
              <a:rPr lang="ru-RU" dirty="0"/>
              <a:t>ДЕКОМПОЗИЦИЯ ДИАГРАММЫ </a:t>
            </a:r>
            <a:r>
              <a:rPr lang="en-US" dirty="0"/>
              <a:t>IDEF0 </a:t>
            </a:r>
            <a:r>
              <a:rPr lang="ru-RU" dirty="0"/>
              <a:t>(1ур.)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69346E22-A17E-4FF7-98BD-869171351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3395" y="2039113"/>
            <a:ext cx="8601893" cy="443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991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13573" y="529264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Контекстная ДИАГРАММА DFD </a:t>
            </a:r>
            <a:br>
              <a:rPr lang="en-US" dirty="0"/>
            </a:br>
            <a:r>
              <a:rPr lang="ru-RU" dirty="0"/>
              <a:t>«заказ товаров в службе доставки»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CD612E-7753-A7FD-E26C-FBD4909C9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73" y="2081212"/>
            <a:ext cx="7729728" cy="398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57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825" y="2890680"/>
            <a:ext cx="5299602" cy="1076639"/>
          </a:xfrm>
        </p:spPr>
        <p:txBody>
          <a:bodyPr>
            <a:normAutofit fontScale="90000"/>
          </a:bodyPr>
          <a:lstStyle/>
          <a:p>
            <a:r>
              <a:rPr lang="ru-RU" dirty="0"/>
              <a:t>ДЕКОМПОЗИЦИЯ ДИАГРАММЫ </a:t>
            </a:r>
            <a:r>
              <a:rPr lang="en-US" dirty="0"/>
              <a:t>DFD</a:t>
            </a:r>
            <a:r>
              <a:rPr lang="ru-RU" dirty="0"/>
              <a:t> (1ур.)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6D1628-468E-511E-6D9C-C61BC6DC5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575" y="0"/>
            <a:ext cx="5796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0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09513" y="355092"/>
            <a:ext cx="7729728" cy="1188720"/>
          </a:xfrm>
        </p:spPr>
        <p:txBody>
          <a:bodyPr/>
          <a:lstStyle/>
          <a:p>
            <a:r>
              <a:rPr lang="ru-RU" dirty="0"/>
              <a:t>Техническое задание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214276" y="1766270"/>
            <a:ext cx="5573486" cy="5729404"/>
          </a:xfrm>
        </p:spPr>
        <p:txBody>
          <a:bodyPr>
            <a:normAutofit fontScale="40000" lnSpcReduction="20000"/>
          </a:bodyPr>
          <a:lstStyle/>
          <a:p>
            <a:pPr algn="l">
              <a:buNone/>
            </a:pPr>
            <a:r>
              <a:rPr lang="ru-RU" sz="4400" b="1" i="0" dirty="0">
                <a:solidFill>
                  <a:srgbClr val="1D1D1F"/>
                </a:solidFill>
                <a:effectLst/>
                <a:latin typeface="system-ui"/>
              </a:rPr>
              <a:t>Основная цель разработки ИС:</a:t>
            </a:r>
          </a:p>
          <a:p>
            <a:pPr fontAlgn="t">
              <a:buNone/>
            </a:pPr>
            <a:r>
              <a:rPr lang="ru-RU" sz="4400" dirty="0">
                <a:solidFill>
                  <a:srgbClr val="1D1D1F"/>
                </a:solidFill>
                <a:latin typeface="system-ui"/>
              </a:rPr>
              <a:t>Создание рабочей среды для управления экспресс-службой доставки с функциями хранения данных об отправителях, получателях и курьерах, автоматизированной обработки заявок на перевозку, планирования маршрутов, контроля статусов и соблюдения временных нормативов (SLA), генерации транспортных документов и контроля выполнения заказов</a:t>
            </a:r>
            <a:r>
              <a:rPr lang="en-US" sz="4400" b="0" i="0" dirty="0">
                <a:solidFill>
                  <a:srgbClr val="1D1D1F"/>
                </a:solidFill>
                <a:effectLst/>
                <a:latin typeface="system-ui"/>
              </a:rPr>
              <a:t>.</a:t>
            </a:r>
            <a:endParaRPr lang="en-US" sz="4400" b="1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>
              <a:buNone/>
            </a:pPr>
            <a:r>
              <a:rPr lang="ru-RU" sz="4400" b="1" i="0" dirty="0">
                <a:solidFill>
                  <a:srgbClr val="1D1D1F"/>
                </a:solidFill>
                <a:effectLst/>
                <a:latin typeface="system-ui"/>
              </a:rPr>
              <a:t>Этапы разработки:</a:t>
            </a:r>
          </a:p>
          <a:p>
            <a:r>
              <a:rPr lang="ru-RU" sz="4400" dirty="0">
                <a:solidFill>
                  <a:srgbClr val="1D1D1F"/>
                </a:solidFill>
                <a:latin typeface="system-ui"/>
              </a:rPr>
              <a:t> Анализ требований и согласование архитектуры</a:t>
            </a:r>
          </a:p>
          <a:p>
            <a:r>
              <a:rPr lang="ru-RU" sz="4400" dirty="0">
                <a:solidFill>
                  <a:srgbClr val="1D1D1F"/>
                </a:solidFill>
                <a:latin typeface="system-ui"/>
              </a:rPr>
              <a:t>• Разработка БД и UI (включая мобильный интерфейс для курьеров)</a:t>
            </a:r>
          </a:p>
          <a:p>
            <a:r>
              <a:rPr lang="ru-RU" sz="4400" dirty="0">
                <a:solidFill>
                  <a:srgbClr val="1D1D1F"/>
                </a:solidFill>
                <a:latin typeface="system-ui"/>
              </a:rPr>
              <a:t>• Программная реализация серверной и клиентской частей</a:t>
            </a:r>
          </a:p>
          <a:p>
            <a:r>
              <a:rPr lang="ru-RU" sz="4400" dirty="0">
                <a:solidFill>
                  <a:srgbClr val="1D1D1F"/>
                </a:solidFill>
                <a:latin typeface="system-ui"/>
              </a:rPr>
              <a:t>• Настройка модулей управления заявками, маршрутизацией и внешней интеграции</a:t>
            </a:r>
          </a:p>
          <a:p>
            <a:r>
              <a:rPr lang="ru-RU" sz="4400" dirty="0">
                <a:solidFill>
                  <a:srgbClr val="1D1D1F"/>
                </a:solidFill>
                <a:latin typeface="system-ui"/>
              </a:rPr>
              <a:t>• Разработка документации и эксплуатация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174377" y="1766271"/>
            <a:ext cx="5704114" cy="5260172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buNone/>
            </a:pPr>
            <a:r>
              <a:rPr lang="ru-RU" sz="4200" b="1" dirty="0"/>
              <a:t>Функциональные требования:</a:t>
            </a:r>
            <a:r>
              <a:rPr lang="ru-RU" sz="4200" dirty="0"/>
              <a:t> </a:t>
            </a:r>
          </a:p>
          <a:p>
            <a:pPr algn="just"/>
            <a:r>
              <a:rPr lang="ru-RU" sz="4200" dirty="0"/>
              <a:t> Авторизация и ролевая модель доступа</a:t>
            </a:r>
          </a:p>
          <a:p>
            <a:pPr algn="just"/>
            <a:r>
              <a:rPr lang="ru-RU" sz="4200" dirty="0"/>
              <a:t>• CRUD-операции с заявками на доставку, клиентами, курьерами и маршрутами</a:t>
            </a:r>
          </a:p>
          <a:p>
            <a:pPr algn="just"/>
            <a:r>
              <a:rPr lang="ru-RU" sz="4200" dirty="0"/>
              <a:t>• Загрузка и автоматическая оптимизация фото/документов на отправку с возможностью просмотра в высоком разрешении</a:t>
            </a:r>
          </a:p>
          <a:p>
            <a:pPr algn="just"/>
            <a:r>
              <a:rPr lang="ru-RU" sz="4200" dirty="0"/>
              <a:t>• Управление заявками с фильтрами по срочности, габаритам, весу, статусу, зоне обслуживания и SLA</a:t>
            </a:r>
          </a:p>
          <a:p>
            <a:pPr algn="just"/>
            <a:r>
              <a:rPr lang="ru-RU" sz="4200" dirty="0"/>
              <a:t>• Оформление заказа с автоматическим расчетом тарифа, выбором типа доставки и дополнительных услуг</a:t>
            </a:r>
          </a:p>
          <a:p>
            <a:pPr algn="just"/>
            <a:r>
              <a:rPr lang="ru-RU" sz="4200" dirty="0"/>
              <a:t>• Интеграция с платежными системами, картографическими сервисами и SMS/email-шлюзами</a:t>
            </a:r>
          </a:p>
          <a:p>
            <a:pPr algn="just"/>
            <a:r>
              <a:rPr lang="ru-RU" sz="4200" dirty="0"/>
              <a:t>• Системное логирование действий и push/email/SMS-уведомления о статусе доставки и нарушениях сроков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49850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2221" y="2834640"/>
            <a:ext cx="5489448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UML диаграмма вариантов использования (UseCase)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8603FE-9AA3-5887-8022-1B9CD92CF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217" y="0"/>
            <a:ext cx="62747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0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507" y="2814575"/>
            <a:ext cx="4486656" cy="1141497"/>
          </a:xfrm>
        </p:spPr>
        <p:txBody>
          <a:bodyPr>
            <a:normAutofit/>
          </a:bodyPr>
          <a:lstStyle/>
          <a:p>
            <a:r>
              <a:rPr lang="en-US" dirty="0"/>
              <a:t>UML </a:t>
            </a:r>
            <a:r>
              <a:rPr lang="ru-RU" dirty="0"/>
              <a:t>диаграмма деятельности (</a:t>
            </a:r>
            <a:r>
              <a:rPr lang="en-US" dirty="0"/>
              <a:t>Activity)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209718-38E9-7675-1F3C-B736F11B6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5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39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44214" y="2858250"/>
            <a:ext cx="4486656" cy="1141497"/>
          </a:xfrm>
        </p:spPr>
        <p:txBody>
          <a:bodyPr>
            <a:normAutofit fontScale="90000"/>
          </a:bodyPr>
          <a:lstStyle/>
          <a:p>
            <a:r>
              <a:rPr lang="en-US" dirty="0"/>
              <a:t>UML </a:t>
            </a:r>
            <a:r>
              <a:rPr lang="ru-RU" dirty="0"/>
              <a:t>диаграмма последовательности (</a:t>
            </a:r>
            <a:r>
              <a:rPr lang="en-US" dirty="0"/>
              <a:t>Sequence)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F5B52E-BB4F-99F6-902F-1B8022548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641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4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372509"/>
            <a:ext cx="7729728" cy="1188720"/>
          </a:xfrm>
        </p:spPr>
        <p:txBody>
          <a:bodyPr/>
          <a:lstStyle/>
          <a:p>
            <a:r>
              <a:rPr lang="en-US" dirty="0"/>
              <a:t>UML </a:t>
            </a:r>
            <a:r>
              <a:rPr lang="ru-RU" dirty="0"/>
              <a:t>диаграмма классов (</a:t>
            </a:r>
            <a:r>
              <a:rPr lang="en-US" dirty="0"/>
              <a:t>Class)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64F4D2-D900-0118-4E01-1CBEC4F79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1874646"/>
            <a:ext cx="7729728" cy="422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32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F620-B654-4FF4-AC04-C21E87E2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FD04C-9B9C-77F6-9F98-10D6550A5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72509"/>
            <a:ext cx="7729728" cy="1188720"/>
          </a:xfrm>
        </p:spPr>
        <p:txBody>
          <a:bodyPr/>
          <a:lstStyle/>
          <a:p>
            <a:r>
              <a:rPr lang="ru-RU" dirty="0"/>
              <a:t>Концептуальная модель данных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508BFE0-4D45-EC63-1CF9-741FE3505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5" y="1819656"/>
            <a:ext cx="7729728" cy="493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59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433469"/>
            <a:ext cx="7729728" cy="1188720"/>
          </a:xfrm>
        </p:spPr>
        <p:txBody>
          <a:bodyPr/>
          <a:lstStyle/>
          <a:p>
            <a:r>
              <a:rPr lang="ru-RU" dirty="0"/>
              <a:t>ЛОГИЧЕСКАЯ МОДЕЛЬ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175780-A65E-5844-0862-6DC5B8108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7" y="2098928"/>
            <a:ext cx="7729728" cy="412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94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7C54E-187A-C5CB-5D0B-7B1DD838D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7ABCF-8C5A-AEA3-928A-572F90D6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33469"/>
            <a:ext cx="7729728" cy="1188720"/>
          </a:xfrm>
        </p:spPr>
        <p:txBody>
          <a:bodyPr/>
          <a:lstStyle/>
          <a:p>
            <a:r>
              <a:rPr lang="ru-RU" dirty="0"/>
              <a:t>Физическая модель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FA6D70-1853-73C1-8732-AF9CA961D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7" y="2051050"/>
            <a:ext cx="7729728" cy="391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961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5" y="578294"/>
            <a:ext cx="7729728" cy="1188720"/>
          </a:xfrm>
        </p:spPr>
        <p:txBody>
          <a:bodyPr/>
          <a:lstStyle/>
          <a:p>
            <a:r>
              <a:rPr lang="ru-RU" dirty="0"/>
              <a:t>АНАЛИТИЧЕСКИЕ ЗАПРОСЫ К БАЗЕ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31135" y="1927653"/>
            <a:ext cx="7729728" cy="407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Вывод полного реестра клиентов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E14583C-046F-D272-9F89-95B7BCE28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2" y="3429000"/>
            <a:ext cx="7729729" cy="193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442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231135" y="510436"/>
            <a:ext cx="7729728" cy="1188720"/>
          </a:xfrm>
        </p:spPr>
        <p:txBody>
          <a:bodyPr/>
          <a:lstStyle/>
          <a:p>
            <a:r>
              <a:rPr lang="ru-RU" dirty="0"/>
              <a:t>АНАЛИТИЧЕСКИЕ ЗАПРОСЫ К БАЗЕ ДАННЫХ</a:t>
            </a: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2231135" y="1853514"/>
            <a:ext cx="7729728" cy="53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Формирование списка доставок с назначенными курьерами</a:t>
            </a:r>
            <a:endParaRPr lang="ru-RU" sz="20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FC6957B-3EFF-8F10-8724-675EE0598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" y="2810148"/>
            <a:ext cx="11503152" cy="215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67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31136" y="1969903"/>
            <a:ext cx="7234397" cy="439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. Расчёт средней стоимости заказа по статусам</a:t>
            </a:r>
            <a:endParaRPr lang="ru-RU" sz="2000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231136" y="615120"/>
            <a:ext cx="7729728" cy="1188720"/>
          </a:xfrm>
        </p:spPr>
        <p:txBody>
          <a:bodyPr/>
          <a:lstStyle/>
          <a:p>
            <a:r>
              <a:rPr lang="ru-RU" dirty="0"/>
              <a:t>Проверочные ЗАПРОСЫ К БАЗЕ ДАННЫХ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B6CDE2-3108-E89C-C248-0F3B82F4C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3429000"/>
            <a:ext cx="7729728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62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424760"/>
            <a:ext cx="7729728" cy="118872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081FF2-EEE5-0B62-EF60-5B717BBFF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2186940"/>
            <a:ext cx="7729727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78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231136" y="608700"/>
            <a:ext cx="7729728" cy="118872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30F2CD-C9B2-B595-3DD2-8A7755FED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59" y="2382393"/>
            <a:ext cx="5940425" cy="368427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D97589-0B4D-3494-60F3-0B77AD774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924" y="2382394"/>
            <a:ext cx="5419218" cy="368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92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1984" y="458065"/>
            <a:ext cx="7729728" cy="1188720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8097" y="1902941"/>
            <a:ext cx="9316995" cy="4522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ea typeface="Times New Roman" panose="02020603050405020304" pitchFamily="18" charset="0"/>
              </a:rPr>
              <a:t>	</a:t>
            </a:r>
            <a:r>
              <a:rPr lang="ru-RU" sz="2000" dirty="0"/>
              <a:t>В заключение курсового проекта по теме «Проектирование ИС «Экспресс служба доставки» можно утверждать, что была разработана система, предоставляющая возможность управления заявками на перевозку, обработки заказов клиентов, ведения учета курьерского парка и маршрутов, генерации транспортных накладных и контроля соблюдения сроков доставки (SLA) с использованием информационной системы.</a:t>
            </a:r>
          </a:p>
          <a:p>
            <a:pPr marL="0" indent="0">
              <a:buNone/>
            </a:pPr>
            <a:r>
              <a:rPr lang="ru-RU" sz="2000" dirty="0"/>
              <a:t>Разработка этой информационной системы представляет собой важный шаг в сфере логистических услуг и экспресс-доставки, обеспечивая удобный и доступный способ ведения учета отправлений, клиентов и курьеров, а также обеспечивает устойчивое конкурентное преимущество, снижение операционных издержек, автоматизацию бизнес-процессов маршрутизации и переход к клиентоориентированной модели обслуживания с возможностью оперативного отслеживания посылок и гарантированного соблюдения временных окон..</a:t>
            </a:r>
          </a:p>
        </p:txBody>
      </p:sp>
    </p:spTree>
    <p:extLst>
      <p:ext uri="{BB962C8B-B14F-4D97-AF65-F5344CB8AC3E}">
        <p14:creationId xmlns:p14="http://schemas.microsoft.com/office/powerpoint/2010/main" val="1814063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248553" y="2697698"/>
            <a:ext cx="7729728" cy="118872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59134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254</TotalTime>
  <Words>929</Words>
  <Application>Microsoft Office PowerPoint</Application>
  <PresentationFormat>Широкоэкранный</PresentationFormat>
  <Paragraphs>82</Paragraphs>
  <Slides>24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Calibri</vt:lpstr>
      <vt:lpstr>Corbel</vt:lpstr>
      <vt:lpstr>Gill Sans MT</vt:lpstr>
      <vt:lpstr>system-ui</vt:lpstr>
      <vt:lpstr>Times New Roman</vt:lpstr>
      <vt:lpstr>Parcel</vt:lpstr>
      <vt:lpstr>Презентация PowerPoint</vt:lpstr>
      <vt:lpstr>Описание предметной области</vt:lpstr>
      <vt:lpstr>Проблематика</vt:lpstr>
      <vt:lpstr>Цели и задачи</vt:lpstr>
      <vt:lpstr>Объект и предмет исследования</vt:lpstr>
      <vt:lpstr>Контекстная  Диаграмма idef0 «Доставить товар»</vt:lpstr>
      <vt:lpstr>ДЕКОМПОЗИЦИЯ ДИАГРАММЫ IDEF0 (1ур.)</vt:lpstr>
      <vt:lpstr>Контекстная ДИАГРАММА DFD  «заказ товаров в службе доставки»</vt:lpstr>
      <vt:lpstr>ДЕКОМПОЗИЦИЯ ДИАГРАММЫ DFD (1ур.)</vt:lpstr>
      <vt:lpstr>Техническое задание</vt:lpstr>
      <vt:lpstr>UML диаграмма вариантов использования (UseCase)</vt:lpstr>
      <vt:lpstr>UML диаграмма деятельности (Activity)</vt:lpstr>
      <vt:lpstr>UML диаграмма последовательности (Sequence)</vt:lpstr>
      <vt:lpstr>UML диаграмма классов (Class)</vt:lpstr>
      <vt:lpstr>Концептуальная модель данных</vt:lpstr>
      <vt:lpstr>ЛОГИЧЕСКАЯ МОДЕЛЬ ДАННЫХ</vt:lpstr>
      <vt:lpstr>Физическая модель данных</vt:lpstr>
      <vt:lpstr>АНАЛИТИЧЕСКИЕ ЗАПРОСЫ К БАЗЕ ДАННЫХ</vt:lpstr>
      <vt:lpstr>АНАЛИТИЧЕСКИЕ ЗАПРОСЫ К БАЗЕ ДАННЫХ</vt:lpstr>
      <vt:lpstr>Проверочные ЗАПРОСЫ К БАЗЕ ДАННЫХ</vt:lpstr>
      <vt:lpstr>ПОЛЬЗОВАТЕЛЬСКИЙ ИНТЕРФЕЙС</vt:lpstr>
      <vt:lpstr>ПОЛЬЗОВАТЕЛЬСКИЙ ИНТЕРФЕЙС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Ryzen</cp:lastModifiedBy>
  <cp:revision>21</cp:revision>
  <dcterms:created xsi:type="dcterms:W3CDTF">2026-05-05T04:42:58Z</dcterms:created>
  <dcterms:modified xsi:type="dcterms:W3CDTF">2026-05-12T20:07:28Z</dcterms:modified>
</cp:coreProperties>
</file>